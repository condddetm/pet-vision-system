
<file path=[Content_Types].xml><?xml version="1.0" encoding="utf-8"?>
<Types xmlns="http://schemas.openxmlformats.org/package/2006/content-types">
  <Default Extension="vml" ContentType="application/vnd.openxmlformats-officedocument.vmlDrawing"/>
  <Default Extension="xlsx" ContentType="application/vnd.openxmlformats-officedocument.spreadsheetml.sheet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3D4F7C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3D4F7C"/>
                </a:solidFill>
                <a:latin typeface="Arial" panose="020B0604020202020204"/>
              </a:rPr>
              <a:t>犬 / 猫类别占比（25 : 12）</a:t>
            </a:r>
            <a:endParaRPr sz="1200" b="0" i="0" u="none" strike="noStrike">
              <a:solidFill>
                <a:srgbClr val="3D4F7C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A855F7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犬科（25 类·4990张）</c:v>
                </c:pt>
                <c:pt idx="1">
                  <c:v>猫科（12 类·2400张）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4990</c:v>
                </c:pt>
                <c:pt idx="1">
                  <c:v>2400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a7d4687b-0720-4f38-a8ab-efa6e97c81f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 panose="020B0604020202020204"/>
              </a:rPr>
              <a:t>三模型 Accuracy 对比</a:t>
            </a:r>
            <a:endParaRPr sz="12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ResNet-34 (PT)</c:v>
                </c:pt>
                <c:pt idx="1">
                  <c:v>ResNet-34 (RI)</c:v>
                </c:pt>
                <c:pt idx="2">
                  <c:v>SimpleCNN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0.9865</c:v>
                </c:pt>
                <c:pt idx="1">
                  <c:v>0.6831</c:v>
                </c:pt>
                <c:pt idx="2">
                  <c:v>0.5115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3D4F7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 cmpd="sng" algn="ctr">
              <a:solidFill>
                <a:srgbClr val="D0D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3D4F7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7c66c7a-6441-40d2-853f-e6de8f74d94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 panose="020B0604020202020204"/>
              </a:rPr>
              <a:t>三模型 4 指标横向对比</a:t>
            </a:r>
            <a:endParaRPr sz="12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A2A5E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ResNet-34 (PT)</c:v>
                </c:pt>
                <c:pt idx="1">
                  <c:v>ResNet-34 (RI)</c:v>
                </c:pt>
                <c:pt idx="2">
                  <c:v>SimpleCNN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0.9865</c:v>
                </c:pt>
                <c:pt idx="1">
                  <c:v>0.6831</c:v>
                </c:pt>
                <c:pt idx="2">
                  <c:v>0.5115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(macro)</c:v>
                </c:pt>
              </c:strCache>
            </c:strRef>
          </c:tx>
          <c:spPr>
            <a:solidFill>
              <a:srgbClr val="2D4E9E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ResNet-34 (PT)</c:v>
                </c:pt>
                <c:pt idx="1">
                  <c:v>ResNet-34 (RI)</c:v>
                </c:pt>
                <c:pt idx="2">
                  <c:v>SimpleCNN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0.9865</c:v>
                </c:pt>
                <c:pt idx="1">
                  <c:v>0.6802</c:v>
                </c:pt>
                <c:pt idx="2">
                  <c:v>0.5089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ResNet-34 (PT)</c:v>
                </c:pt>
                <c:pt idx="1">
                  <c:v>ResNet-34 (RI)</c:v>
                </c:pt>
                <c:pt idx="2">
                  <c:v>SimpleCNN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0.9872</c:v>
                </c:pt>
                <c:pt idx="1">
                  <c:v>0.6844</c:v>
                </c:pt>
                <c:pt idx="2">
                  <c:v>0.5093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ResNet-34 (PT)</c:v>
                </c:pt>
                <c:pt idx="1">
                  <c:v>ResNet-34 (RI)</c:v>
                </c:pt>
                <c:pt idx="2">
                  <c:v>SimpleCNN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0.9865</c:v>
                </c:pt>
                <c:pt idx="1">
                  <c:v>0.6831</c:v>
                </c:pt>
                <c:pt idx="2">
                  <c:v>0.5115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3D4F7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 cmpd="sng" algn="ctr">
              <a:solidFill>
                <a:srgbClr val="D0D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3D4F7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6ed34d6-df0f-4fc1-9651-8f92e93a4c0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 panose="020B0604020202020204"/>
              </a:rPr>
              <a:t>品种错误率（%）</a:t>
            </a:r>
            <a:endParaRPr sz="11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错误率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German Shorthaired</c:v>
                </c:pt>
                <c:pt idx="1">
                  <c:v>Birman</c:v>
                </c:pt>
                <c:pt idx="2">
                  <c:v>Bombay</c:v>
                </c:pt>
                <c:pt idx="3">
                  <c:v>Am. Bulldog</c:v>
                </c:pt>
                <c:pt idx="4">
                  <c:v>Am. Pit Bull T.</c:v>
                </c:pt>
                <c:pt idx="5">
                  <c:v>Boxer</c:v>
                </c:pt>
                <c:pt idx="6">
                  <c:v>Eng. Cocker Sp.</c:v>
                </c:pt>
                <c:pt idx="7">
                  <c:v>Newfoundland</c:v>
                </c:pt>
                <c:pt idx="8">
                  <c:v>Pomeranian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D4F7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D0D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3D4F7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71ca515-d646-473a-8aa0-f13e75dda07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0"/>
          </a:xfrm>
          <a:prstGeom prst="rect">
            <a:avLst/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西北大学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Northwest University · Xi'an · Founded 1902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基于深度学习的智能宠物视觉信息系统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0" y="2468880"/>
            <a:ext cx="5852160" cy="475488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468880"/>
            <a:ext cx="5669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多任务视觉分析：图像分类  ＋  语义分割  ＋  可解释性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154680"/>
            <a:ext cx="1371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</a:rPr>
              <a:t>汇报人：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3154680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陈登科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3483864"/>
            <a:ext cx="1371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</a:rPr>
              <a:t>学　号：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3483864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2023117319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813048"/>
            <a:ext cx="1371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</a:rPr>
              <a:t>专　业：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3813048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软件工程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4142232"/>
            <a:ext cx="1371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</a:rPr>
              <a:t>课　程：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4142232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智能信息系统综合实践·挑战项 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4471416"/>
            <a:ext cx="1371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</a:rPr>
              <a:t>日　期：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4471416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2026 年 5 月 1 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汇报大纲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02920" cy="1554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</a:rPr>
              <a:t>项目背景与目标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任务要求、数据集、研究意义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502920" cy="1554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1732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94760" y="114300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</a:rPr>
              <a:t>模型选型与方法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173736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ResNet-34、U-Net、Grad-CAM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9144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914400"/>
            <a:ext cx="502920" cy="1554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41732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9400" y="114300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</a:rPr>
              <a:t>实验结果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173736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分类 / 分割指标、三模型对比、训练曲线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743200"/>
            <a:ext cx="502920" cy="1554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4612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297180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</a:rPr>
              <a:t>可视化系统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356616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架构、五大页面、三模式推理、交互细节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7432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743200"/>
            <a:ext cx="502920" cy="1554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24612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94760" y="297180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</a:rPr>
              <a:t>结果分析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94760" y="356616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混淆矩阵、高错品种、Grad-CAM 观察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27432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2743200"/>
            <a:ext cx="502920" cy="1554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24612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29400" y="297180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</a:rPr>
              <a:t>总结与展望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29400" y="356616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</a:rPr>
              <a:t>主要贡献、局限、未来方向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011680" y="2011680"/>
            <a:ext cx="6400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项目背景与目标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011680" y="3291840"/>
            <a:ext cx="10972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研究背景与任务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课程任务（挑战项 D）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749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多任务视觉分析：分类 + 分割并行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基于 Oxford-IIIT Pet 数据集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端到端 Web 可视化系统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含加分扩展：Grad-CAM / 批量并发 / 摄像头等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926080"/>
            <a:ext cx="4023360" cy="384048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2608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研究意义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337560"/>
            <a:ext cx="37490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细粒度挑战：37 类亲缘品种区分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标注完整：像素级 trimap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工程化价值：从实验到产品级系统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4297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868680"/>
            <a:ext cx="4297680" cy="384048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868680"/>
            <a:ext cx="4114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系统流程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41732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435608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输入图像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1691640"/>
            <a:ext cx="3383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224×224 宠物照片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984248"/>
            <a:ext cx="0" cy="274320"/>
          </a:xfrm>
          <a:prstGeom prst="line">
            <a:avLst/>
          </a:prstGeom>
          <a:noFill/>
          <a:ln w="12700">
            <a:solidFill>
              <a:srgbClr val="D0D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21488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167128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分类 ResNet-34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423160"/>
            <a:ext cx="3383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37 类 Top-5 预测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75120" y="2715768"/>
            <a:ext cx="0" cy="274320"/>
          </a:xfrm>
          <a:prstGeom prst="line">
            <a:avLst/>
          </a:prstGeom>
          <a:noFill/>
          <a:ln w="12700">
            <a:solidFill>
              <a:srgbClr val="D0D8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288036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898648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分割 U-Net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154680"/>
            <a:ext cx="3383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前景 Mask 输出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3447288"/>
            <a:ext cx="0" cy="274320"/>
          </a:xfrm>
          <a:prstGeom prst="line">
            <a:avLst/>
          </a:prstGeom>
          <a:noFill/>
          <a:ln w="12700">
            <a:solidFill>
              <a:srgbClr val="D0D8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61188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630168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多任务输出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3886200"/>
            <a:ext cx="3383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Top-5 + mask + Grad-CAM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数据集：Oxford-IIIT Pet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1874520" cy="54864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16916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A5E"/>
                </a:solidFill>
              </a:rPr>
              <a:t>7,390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548994"/>
            <a:ext cx="1691640" cy="3511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图像总数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86868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0" y="868680"/>
            <a:ext cx="1874520" cy="54864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005840"/>
            <a:ext cx="16916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A5E"/>
                </a:solidFill>
              </a:rPr>
              <a:t>37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377440" y="1548994"/>
            <a:ext cx="1691640" cy="3511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类别总数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03120"/>
            <a:ext cx="187452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40280"/>
            <a:ext cx="16916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25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" y="2783434"/>
            <a:ext cx="1691640" cy="3511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犬科品种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210312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0" y="2103120"/>
            <a:ext cx="1874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240280"/>
            <a:ext cx="16916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</a:rPr>
              <a:t>12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377440" y="2783434"/>
            <a:ext cx="1691640" cy="3511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猫科品种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10896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218688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</a:rPr>
              <a:t>训练 / 验证 / 测试 比例：7 : 2 : 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547872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</a:rPr>
              <a:t>5,173 / 1,476 / 741 张</a:t>
            </a:r>
            <a:endParaRPr lang="en-US" sz="11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389120" y="868680"/>
          <a:ext cx="44805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274320" y="329184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3291840"/>
            <a:ext cx="85953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329184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关键特点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3675888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类别分布近似均衡（极差仅 16 张）→ 无需加权损失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trimap 像素级标注 → 天然适配分割任务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存在细粒度亲缘品种（如 American Bulldog ↔ Pit Bull Terrier）可考验模型判别能力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011680" y="2011680"/>
            <a:ext cx="6400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模型选型与方法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011680" y="3291840"/>
            <a:ext cx="10972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方法概览：三大模型组合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417320" cy="384048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68680"/>
            <a:ext cx="13441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任务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868680"/>
            <a:ext cx="2697480" cy="384048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868680"/>
            <a:ext cx="26243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模型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526280" cy="384048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868680"/>
            <a:ext cx="44531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设计要点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280160"/>
            <a:ext cx="13167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5E"/>
                </a:solidFill>
              </a:rPr>
              <a:t>图像分类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1280160"/>
            <a:ext cx="2697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56232" y="1280160"/>
            <a:ext cx="25968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5E"/>
                </a:solidFill>
              </a:rPr>
              <a:t>ResNet-34（ImageNet 预训练）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280160"/>
            <a:ext cx="4526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280160"/>
            <a:ext cx="44256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残差连接 + 迁移学习；fc 层替换为 Linear(512, 37)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865376"/>
            <a:ext cx="1417320" cy="5486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865376"/>
            <a:ext cx="13167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5E"/>
                </a:solidFill>
              </a:rPr>
              <a:t>分类基线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1865376"/>
            <a:ext cx="2697480" cy="5486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56232" y="1865376"/>
            <a:ext cx="25968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5E"/>
                </a:solidFill>
              </a:rPr>
              <a:t>ResNet-34（随机初始化）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865376"/>
            <a:ext cx="4526280" cy="5486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1865376"/>
            <a:ext cx="44256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对照组：验证迁移学习收益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450592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450592"/>
            <a:ext cx="13167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5E"/>
                </a:solidFill>
              </a:rPr>
              <a:t>分类基线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83080" y="2450592"/>
            <a:ext cx="2697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56232" y="2450592"/>
            <a:ext cx="25968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5E"/>
                </a:solidFill>
              </a:rPr>
              <a:t>SimpleCNN（自定义 4 层）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450592"/>
            <a:ext cx="4526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450592"/>
            <a:ext cx="44256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容量对照：参数量仅 0.37M（1/50 ResNet-34）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035808"/>
            <a:ext cx="1417320" cy="5486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035808"/>
            <a:ext cx="13167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5E"/>
                </a:solidFill>
              </a:rPr>
              <a:t>语义分割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83080" y="3035808"/>
            <a:ext cx="2697480" cy="5486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56232" y="3035808"/>
            <a:ext cx="25968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5E"/>
                </a:solidFill>
              </a:rPr>
              <a:t>U-Net（ResNet-34 编码器）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035808"/>
            <a:ext cx="4526280" cy="5486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3035808"/>
            <a:ext cx="44256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编码器共享主干 + 跳跃连接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621024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621024"/>
            <a:ext cx="13167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5E"/>
                </a:solidFill>
              </a:rPr>
              <a:t>可解释性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83080" y="3621024"/>
            <a:ext cx="2697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56232" y="3621024"/>
            <a:ext cx="25968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5E"/>
                </a:solidFill>
              </a:rPr>
              <a:t>Grad-CAM @ layer4[-1]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621024"/>
            <a:ext cx="4526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621024"/>
            <a:ext cx="44256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类激活热力图，JET 调色板叠加原图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25196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4251960"/>
            <a:ext cx="64008" cy="6858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" y="4279392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5E"/>
                </a:solidFill>
              </a:rPr>
              <a:t>分类核心：迁移学习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9768" y="4517136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7C"/>
                </a:solidFill>
              </a:rPr>
              <a:t>保留 ImageNet 骨干权重，仅替换最后 FC 层；Adam 优化器、η = 10⁻³、100 epoch。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0" y="425196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0" y="4251960"/>
            <a:ext cx="64008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27448" y="4279392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分割核心：主干共享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27448" y="4517136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7C"/>
                </a:solidFill>
              </a:rPr>
              <a:t>U-Net 编码器 = ResNet-34（与分类一致）；BCEWithLogits 损失；30 epoch 训练至 Dice 收敛。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Grad-CAM 可解释性流程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8696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输入图像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224×224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207008"/>
            <a:ext cx="2286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8686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8696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前向传播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1207008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ResNet-34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1207008"/>
            <a:ext cx="2286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8686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88696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Top-1 logit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1207008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altLang="zh-CN" sz="900" dirty="0">
                <a:solidFill>
                  <a:srgbClr val="CADCFC"/>
                </a:solidFill>
              </a:rPr>
              <a:t>yc∗</a:t>
            </a:r>
            <a:endParaRPr lang="en-US" altLang="zh-CN" sz="900" dirty="0">
              <a:solidFill>
                <a:srgbClr val="CADCFC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207008"/>
            <a:ext cx="2286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8686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88696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反向至 layer4[-1]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1207008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通道梯度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63840" y="1554480"/>
            <a:ext cx="0" cy="36576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19659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98424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叠加原图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2304288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ReLU + JET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2304288"/>
            <a:ext cx="27432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19659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98424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∑ αk·Ak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2304288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激活图加权求和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304288"/>
            <a:ext cx="27432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19659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198424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GAP → αk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63240" y="2304288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全局均值池化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8346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274320" y="2834640"/>
            <a:ext cx="4114800" cy="347472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83464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权重公式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28346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834640"/>
            <a:ext cx="4206240" cy="347472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83464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热力图说明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54880" y="3246120"/>
            <a:ext cx="39319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红色区域：判别关键依据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蓝色区域：无关 / 背景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上采样至原图尺寸，按 0.55 : 0.45 混合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验证模型是否关注语义正确的特征</a:t>
            </a:r>
            <a:endParaRPr lang="en-US" sz="1100" dirty="0"/>
          </a:p>
        </p:txBody>
      </p:sp>
      <p:graphicFrame>
        <p:nvGraphicFramePr>
          <p:cNvPr id="42" name="对象 4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24638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4300" imgH="215900" progId="Equation.KSEE3">
                  <p:embed/>
                </p:oleObj>
              </mc:Choice>
              <mc:Fallback>
                <p:oleObj name="" r:id="rId1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246380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24638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246380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" name="图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360" y="3181985"/>
            <a:ext cx="1865630" cy="78232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360" y="3852545"/>
            <a:ext cx="2051685" cy="7512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011680" y="2011680"/>
            <a:ext cx="6400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实验结果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011680" y="3291840"/>
            <a:ext cx="10972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分类实验结果：主模型 ResNet-34（ImageNet 预训练）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19202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1737360" cy="6537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</a:rPr>
              <a:t>98.65%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605686"/>
            <a:ext cx="1737360" cy="3803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8686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868680"/>
            <a:ext cx="1920240" cy="54864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05840"/>
            <a:ext cx="1737360" cy="6537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A5E"/>
                </a:solidFill>
              </a:rPr>
              <a:t>0.9872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1605686"/>
            <a:ext cx="1737360" cy="3803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Precision (macro)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868680"/>
            <a:ext cx="1920240" cy="54864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05840"/>
            <a:ext cx="1737360" cy="6537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A5E"/>
                </a:solidFill>
              </a:rPr>
              <a:t>0.9865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605686"/>
            <a:ext cx="1737360" cy="3803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Recall (macro)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8686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868680"/>
            <a:ext cx="1920240" cy="54864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005840"/>
            <a:ext cx="1737360" cy="6537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A5E"/>
                </a:solidFill>
              </a:rPr>
              <a:t>0.9865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1605686"/>
            <a:ext cx="1737360" cy="3803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F1 (macro)</a:t>
            </a:r>
            <a:endParaRPr lang="en-US" sz="10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74320" y="2194560"/>
          <a:ext cx="50292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5486400" y="2194560"/>
            <a:ext cx="33832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0" y="2194560"/>
            <a:ext cx="338328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77840" y="219456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核心观察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577840" y="2633472"/>
            <a:ext cx="32004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Accuracy 与 macro-F1 高度一致（∆ &lt; 0.01）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各品种均衡识别，无明显薄弱类别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迁移学习带来 +30.3% 提升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容量差异影响（17%）远小于预训练差异（30%）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三模型对比：迁移学习收益分析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73152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</a:rPr>
              <a:t>ResNet-34 (PT)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Acc: 0.9865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1887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18872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基线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03120"/>
            <a:ext cx="73152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12848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</a:rPr>
              <a:t>ResNet-34 (RI)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57860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</a:rPr>
              <a:t>Acc: 0.6831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23774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EF3E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37744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</a:rPr>
              <a:t>−30.3%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91840"/>
            <a:ext cx="73152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01568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</a:rPr>
              <a:t>SimpleCNN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76732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Acc: 0.5115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35661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EE8E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56616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</a:rPr>
              <a:t>−47.5%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48056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480560"/>
            <a:ext cx="73152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两大结论：① 迁移学习收益显著（+30.3%）  ② 容量 ≠ 关键：PT vs RI 差距（30%）远超 RI vs CNN（17%）</a:t>
            </a:r>
            <a:endParaRPr lang="en-US" sz="10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572000" y="868680"/>
          <a:ext cx="4389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训练曲线：收敛动态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420624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ResNet-34 (PT)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319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Loss: 0.67 → 0.06（大幅下降）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Val acc 第 5 轮达 0.849，第 10 轮 90%+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第 100 轮收敛 0.926；测试集 0.9865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68680"/>
            <a:ext cx="420624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86868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ResNet-34 (RI)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280160"/>
            <a:ext cx="39319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收敛显著缓慢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需数十轮才能脱离随机水平（2.7%）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最终测试集仅 0.6831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420624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8892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SimpleCNN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200400"/>
            <a:ext cx="39319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Val acc: 0.08 → 0.547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存在明显容量瓶颈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训练不稳定，波动较大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7889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788920"/>
            <a:ext cx="4206240" cy="3657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78892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U-Net（分割）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200400"/>
            <a:ext cx="39319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Dice 第 1 轮 0.853 → 第 25 轮 0.914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30 epoch 收敛，测试集 0.9374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4F7C"/>
                </a:solidFill>
              </a:rPr>
              <a:t>ReduceLROnPlateau 使尾段平稳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663440"/>
            <a:ext cx="64008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63440"/>
            <a:ext cx="8321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核心观察：预训练模型第 10 轮前即达 90%+ 准确率；ReduceLROnPlateau 与早停机制使所有模型尾段平稳收敛，无明显过拟合。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分割实验结果：U-Net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19202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1737360" cy="6286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</a:rPr>
              <a:t>0.9374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577340"/>
            <a:ext cx="17373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Dice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86868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868680"/>
            <a:ext cx="1920240" cy="54864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05840"/>
            <a:ext cx="1737360" cy="6286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A5E"/>
                </a:solidFill>
              </a:rPr>
              <a:t>0.8895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1577340"/>
            <a:ext cx="17373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mIoU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868680"/>
            <a:ext cx="1920240" cy="54864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05840"/>
            <a:ext cx="1737360" cy="6286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A5E"/>
                </a:solidFill>
              </a:rPr>
              <a:t>0.9709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577340"/>
            <a:ext cx="17373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Pixel Accuracy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86868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868680"/>
            <a:ext cx="1920240" cy="54864"/>
          </a:xfrm>
          <a:prstGeom prst="rect">
            <a:avLst/>
          </a:prstGeom>
          <a:solidFill>
            <a:srgbClr val="3D4F7C"/>
          </a:solidFill>
          <a:ln w="12700">
            <a:solidFill>
              <a:srgbClr val="3D4F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005840"/>
            <a:ext cx="1737360" cy="6286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4F7C"/>
                </a:solidFill>
              </a:rPr>
              <a:t>739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1577340"/>
            <a:ext cx="17373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</a:rPr>
              <a:t>测试样本数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1488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148840"/>
            <a:ext cx="4114800" cy="3657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14884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编码器对照：迁移学习收益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578608"/>
            <a:ext cx="2286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</a:rPr>
              <a:t>U-Net (PT)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0" y="2578608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0.9374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3035808"/>
            <a:ext cx="2286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5E"/>
                </a:solidFill>
              </a:rPr>
              <a:t>U-Net (RI)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3035808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</a:rPr>
              <a:t>0.8213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3493008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迁移学习收益：+11.6% Dice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148840"/>
            <a:ext cx="4206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148840"/>
            <a:ext cx="4206240" cy="3657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14884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分割输出可视化说明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60604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0604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5E"/>
                </a:solidFill>
              </a:rPr>
              <a:t>原图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269748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7C"/>
                </a:solidFill>
              </a:rPr>
              <a:t>输入的 224×224 宠物照片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3832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3832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5E"/>
                </a:solidFill>
              </a:rPr>
              <a:t>预测 Mask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7C"/>
                </a:solidFill>
              </a:rPr>
              <a:t>U-Net 输出的二值前景掩码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41605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16052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5E"/>
                </a:solidFill>
              </a:rPr>
              <a:t>叠加可视化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42519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7C"/>
                </a:solidFill>
              </a:rPr>
              <a:t>绿色高亮叠加在原图上显示宠物前景区域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011680" y="2011680"/>
            <a:ext cx="6400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可视化系统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011680" y="3291840"/>
            <a:ext cx="10972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系统架构与技术栈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浏览器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Vue 3 + Element Plus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40280" y="1371600"/>
            <a:ext cx="182880" cy="0"/>
          </a:xfrm>
          <a:prstGeom prst="line">
            <a:avLst/>
          </a:prstGeom>
          <a:noFill/>
          <a:ln w="12700">
            <a:solidFill>
              <a:srgbClr val="D0D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914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60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Nginx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3716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反向代理 / gzip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371600"/>
            <a:ext cx="182880" cy="0"/>
          </a:xfrm>
          <a:prstGeom prst="line">
            <a:avLst/>
          </a:prstGeom>
          <a:noFill/>
          <a:ln w="12700">
            <a:solidFill>
              <a:srgbClr val="D0D8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914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960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13716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REST + WebSocket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37960" y="1371600"/>
            <a:ext cx="182880" cy="0"/>
          </a:xfrm>
          <a:prstGeom prst="line">
            <a:avLst/>
          </a:prstGeom>
          <a:noFill/>
          <a:ln w="12700">
            <a:solidFill>
              <a:srgbClr val="D0D8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914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960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PyTorch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13716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ResNet-34 / U-Net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192024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99"/>
                </a:solidFill>
              </a:rPr>
              <a:t>HTTP / WebSocket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286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286000"/>
            <a:ext cx="64008" cy="9144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37744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5E"/>
                </a:solidFill>
              </a:rPr>
              <a:t>通信层：14 个 REST API + 1 个 WebSocket 端点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67919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</a:rPr>
              <a:t>部署：Docker Compose 一键编排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2860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286000"/>
            <a:ext cx="6400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3172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5E"/>
                </a:solidFill>
              </a:rPr>
              <a:t>前端技术栈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6060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7C"/>
                </a:solidFill>
              </a:rPr>
              <a:t>Vue 3 · Vite 5 · Element Plus · ECharts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288036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7C"/>
                </a:solidFill>
              </a:rPr>
              <a:t>后端：FastAPI · PyTorch 2.4 · segmentation-models-pytorch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33756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337560"/>
            <a:ext cx="8595360" cy="3657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五大功能页面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7490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749040"/>
            <a:ext cx="1508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5E"/>
                </a:solidFill>
              </a:rPr>
              <a:t>/  首页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03120" y="37490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48840" y="3749040"/>
            <a:ext cx="1508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5E"/>
                </a:solidFill>
              </a:rPr>
              <a:t>/dataset  数据集展示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37490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749040"/>
            <a:ext cx="1508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5E"/>
                </a:solidFill>
              </a:rPr>
              <a:t>/predict  推理（三模式）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77840" y="37490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3749040"/>
            <a:ext cx="1508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5E"/>
                </a:solidFill>
              </a:rPr>
              <a:t>/analysis  实验分析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0" y="37490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60920" y="3749040"/>
            <a:ext cx="1508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5E"/>
                </a:solidFill>
              </a:rPr>
              <a:t>/extra  扩展分析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系统首页：八大核心能力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005840"/>
            <a:ext cx="548640" cy="548640"/>
          </a:xfrm>
          <a:prstGeom prst="ellipse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0058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5E"/>
                </a:solidFill>
              </a:rPr>
              <a:t>多任务推理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分类 + 分割同步输出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896112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005840"/>
            <a:ext cx="548640" cy="548640"/>
          </a:xfrm>
          <a:prstGeom prst="ellipse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10058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42032" y="1627632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5E"/>
                </a:solidFill>
              </a:rPr>
              <a:t>Top-K 预测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0116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Top-5 概率分布展示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896112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58384" y="1005840"/>
            <a:ext cx="548640" cy="548640"/>
          </a:xfrm>
          <a:prstGeom prst="ellipse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0058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18304" y="1627632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5E"/>
                </a:solidFill>
              </a:rPr>
              <a:t>Grad-CAM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20116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layer4[-1] 热力图叠加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03136" y="896112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34656" y="1005840"/>
            <a:ext cx="548640" cy="548640"/>
          </a:xfrm>
          <a:prstGeom prst="ellipse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34656" y="10058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94576" y="1627632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5E"/>
                </a:solidFill>
              </a:rPr>
              <a:t>摄像头识别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20116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WebRTC 实时抓拍推理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724912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5840" y="2834640"/>
            <a:ext cx="548640" cy="548640"/>
          </a:xfrm>
          <a:prstGeom prst="ellipse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2834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3456432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5E"/>
                </a:solidFill>
              </a:rPr>
              <a:t>批量并发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38404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3 路并发 + CSV 导出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50592" y="2724912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82112" y="2834640"/>
            <a:ext cx="548640" cy="548640"/>
          </a:xfrm>
          <a:prstGeom prst="ellipse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2112" y="2834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42032" y="3456432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5E"/>
                </a:solidFill>
              </a:rPr>
              <a:t>错误反馈闭环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42032" y="38404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JSONL 持久化数据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26864" y="2724912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58384" y="2834640"/>
            <a:ext cx="548640" cy="548640"/>
          </a:xfrm>
          <a:prstGeom prst="ellipse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58384" y="2834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18304" y="3456432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5E"/>
                </a:solidFill>
              </a:rPr>
              <a:t>中英双语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18304" y="38404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UI 国际化切换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03136" y="2724912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34656" y="2834640"/>
            <a:ext cx="548640" cy="548640"/>
          </a:xfrm>
          <a:prstGeom prst="ellipse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34656" y="2834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94576" y="3456432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5E"/>
                </a:solidFill>
              </a:rPr>
              <a:t>PDF 报告导出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94576" y="38404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html2canvas + jsPDF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推理页：三模式互斥 Tab 切换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2697480" cy="4572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96112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单张推理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42316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Top-5 品种预测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语义分割 Mask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Grad-CAM 热力图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2423160" cy="548640"/>
          </a:xfrm>
          <a:prstGeom prst="roundRect">
            <a:avLst>
              <a:gd name="adj" fmla="val 13333"/>
            </a:avLst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4320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5E"/>
                </a:solidFill>
              </a:rPr>
              <a:t>输入：上传 / 摄像头 / 粘贴 / 样例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89611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896112"/>
            <a:ext cx="2697480" cy="457200"/>
          </a:xfrm>
          <a:prstGeom prst="rect">
            <a:avLst/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896112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批量推理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417320"/>
            <a:ext cx="242316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最多 3 路并发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进度实时展示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结果导出 CSV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2423160" cy="548640"/>
          </a:xfrm>
          <a:prstGeom prst="roundRect">
            <a:avLst>
              <a:gd name="adj" fmla="val 13333"/>
            </a:avLst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74320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5E"/>
                </a:solidFill>
              </a:rPr>
              <a:t>输入：上传 / 摄像头 / 粘贴 / 样例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89611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896112"/>
            <a:ext cx="2697480" cy="457200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896112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三模型对比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1417320"/>
            <a:ext cx="242316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同图三模型并排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ResNet-34 PT/RI + CNN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3D4F7C"/>
                </a:solidFill>
              </a:rPr>
              <a:t>底部对比洞察文字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2743200"/>
            <a:ext cx="2423160" cy="548640"/>
          </a:xfrm>
          <a:prstGeom prst="roundRect">
            <a:avLst>
              <a:gd name="adj" fmla="val 13333"/>
            </a:avLst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74320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5E"/>
                </a:solidFill>
              </a:rPr>
              <a:t>输入：上传 / 摄像头 / 粘贴 / 样例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06240"/>
            <a:ext cx="64008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7C"/>
                </a:solidFill>
              </a:rPr>
              <a:t>亮点：每种模式均支持四种输入方式；批量推理 3 路并发有效压缩总耗时；三模型对比辅以底部对比洞察文字。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系统交互细节：完整用户闭环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4206240" cy="384048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96112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WebSocket 实时日志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53312"/>
            <a:ext cx="39319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</a:rPr>
              <a:t>推理分阶段流式传输，终端面板可视化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89611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96112"/>
            <a:ext cx="4206240" cy="384048"/>
          </a:xfrm>
          <a:prstGeom prst="rect">
            <a:avLst/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896112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错误反馈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353312"/>
            <a:ext cx="39319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</a:rPr>
              <a:t>用户标注正确品种，JSONL 持久化积累数据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58775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87752"/>
            <a:ext cx="4206240" cy="384048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87752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摄像头识别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044952"/>
            <a:ext cx="39319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</a:rPr>
              <a:t>WebRTC 实时抓拍，无需上传文件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58775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587752"/>
            <a:ext cx="42062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587752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历史记录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044952"/>
            <a:ext cx="39319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7C"/>
                </a:solidFill>
              </a:rPr>
              <a:t>localStorage 缓存推理历史，随时回溯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429768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297680"/>
            <a:ext cx="85953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超越「纯预测」的用户闭环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系统不仅能做预测，还能 看（WebSocket 过程可见）· 改（错误反馈）· 存（历史记录）· 再训（JSONL 积累数据）——形成完整数据-模型正循环。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011680" y="2011680"/>
            <a:ext cx="6400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结果分析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011680" y="3291840"/>
            <a:ext cx="10972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混淆矩阵与高错品种分析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4114800" cy="3657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37 × 37 混淆矩阵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840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7C"/>
                </a:solidFill>
              </a:rPr>
              <a:t>混淆集中在同大类亲缘品种（同体型斗犬、长毛大型猫），跨大类误判极罕见。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2057400" cy="3657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86868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品种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868680"/>
            <a:ext cx="594360" cy="3657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86868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错误率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868680"/>
            <a:ext cx="1417320" cy="3657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44384" y="86868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主要混淆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261872"/>
            <a:ext cx="2057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26187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5E"/>
                </a:solidFill>
              </a:rPr>
              <a:t>German Shorthaired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261872"/>
            <a:ext cx="594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1261872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10%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1261872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44384" y="1261872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5E"/>
                </a:solidFill>
              </a:rPr>
              <a:t>Basset Hound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609344"/>
            <a:ext cx="205740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60934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Birman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1609344"/>
            <a:ext cx="59436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1609344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9520" y="1609344"/>
            <a:ext cx="141732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44384" y="1609344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Ragdoll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956816"/>
            <a:ext cx="2057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195681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Bombay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1956816"/>
            <a:ext cx="594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1956816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5%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89520" y="1956816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44384" y="1956816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British Shorthair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304288"/>
            <a:ext cx="205740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230428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Am. Bulldog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0" y="2304288"/>
            <a:ext cx="59436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12864" y="2304288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5%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589520" y="2304288"/>
            <a:ext cx="141732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44384" y="2304288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Am. Pit Bull T.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651760"/>
            <a:ext cx="2057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265176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Am. Pit Bull 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0" y="2651760"/>
            <a:ext cx="594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12864" y="26517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5%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589520" y="2651760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44384" y="265176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Boxer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999232"/>
            <a:ext cx="205740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299923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Boxer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58000" y="2999232"/>
            <a:ext cx="59436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12864" y="2999232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5%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589520" y="2999232"/>
            <a:ext cx="141732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44384" y="2999232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Staffordshire BT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3440" y="3346704"/>
            <a:ext cx="2057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18304" y="334670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Eng. Cocker Sp.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58000" y="3346704"/>
            <a:ext cx="594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12864" y="3346704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5%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589520" y="3346704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44384" y="3346704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English Setter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63440" y="3694176"/>
            <a:ext cx="205740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8304" y="369417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Newfoundland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858000" y="3694176"/>
            <a:ext cx="59436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12864" y="3694176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5%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589520" y="3694176"/>
            <a:ext cx="1417320" cy="3200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44384" y="3694176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Scottish Terrier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63440" y="4041648"/>
            <a:ext cx="2057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18304" y="404164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Pomeranian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858000" y="4041648"/>
            <a:ext cx="594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12864" y="4041648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5%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589520" y="4041648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44384" y="4041648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5E"/>
                </a:solidFill>
              </a:rPr>
              <a:t>Samoyed</a:t>
            </a:r>
            <a:endParaRPr lang="en-US" sz="1000" dirty="0"/>
          </a:p>
        </p:txBody>
      </p:sp>
      <p:graphicFrame>
        <p:nvGraphicFramePr>
          <p:cNvPr id="70" name="Chart 0"/>
          <p:cNvGraphicFramePr/>
          <p:nvPr/>
        </p:nvGraphicFramePr>
        <p:xfrm>
          <a:off x="274320" y="233172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Grad-CAM 可解释性观察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64008" cy="11430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</a:rPr>
              <a:t>短毛猫（Abyssinian / Bengal）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4754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</a:rPr>
              <a:t>热力图集中在面部三角区（双眼 + 鼻），判别特征清晰，置信度高。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94560"/>
            <a:ext cx="64008" cy="1143000"/>
          </a:xfrm>
          <a:prstGeom prst="rect">
            <a:avLst/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</a:rPr>
              <a:t>长毛狗（Samoyed / Pomeranian）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70048"/>
            <a:ext cx="4754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</a:rPr>
              <a:t>激活分布更分散，覆盖面部与躯干毛色纹理，同时利用多维特征。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493008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493008"/>
            <a:ext cx="64008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84448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</a:rPr>
              <a:t>错误案例（背景干扰）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968496"/>
            <a:ext cx="4754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7C"/>
                </a:solidFill>
              </a:rPr>
              <a:t>部分图像偏向背景（草地/家具），暴露 spurious correlation 隐患。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896112"/>
            <a:ext cx="32918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896112"/>
            <a:ext cx="3291840" cy="411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896112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可解释性价值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1371600"/>
            <a:ext cx="31089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7C"/>
                </a:solidFill>
              </a:rPr>
              <a:t>证实模型学到了语义合理的判别特征（「看脸」），而非依赖背景 spurious correlation，为模型决策合理性提供了可视化证据。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2788920"/>
            <a:ext cx="3291840" cy="347472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278892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5E"/>
                </a:solidFill>
              </a:rPr>
              <a:t>热力图颜色：红色 = 判别关键区域  |  蓝色 = 背景 / 无关区域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3200400"/>
            <a:ext cx="3291840" cy="100584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8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24612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5E"/>
                </a:solidFill>
              </a:rPr>
              <a:t>技术细节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3520440"/>
            <a:ext cx="3108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7C"/>
                </a:solidFill>
              </a:rPr>
              <a:t>Hook 挂载于 layer4[-1]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4F7C"/>
                </a:solidFill>
              </a:rPr>
              <a:t>上采样至原图尺寸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4F7C"/>
                </a:solidFill>
              </a:rPr>
              <a:t>原图 0.55 : Grad-CAM 0.45 混合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114800"/>
            <a:ext cx="64008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14800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7C"/>
                </a:solidFill>
              </a:rPr>
              <a:t>未来方向：可扩展至 Grad-CAM++ 或 Integrated Gradients，以获得更精确的归因分析；同时在线学习闭环可利用错误反馈数据持续改进模型。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011680" y="2011680"/>
            <a:ext cx="6400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总结与展望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011680" y="3291840"/>
            <a:ext cx="10972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工程化实践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2697480" cy="384048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96112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Docker 容器化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353312"/>
            <a:ext cx="251460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4F7C"/>
                </a:solidFill>
              </a:rPr>
              <a:t>docker-compose.yml 一键编排；Nginx 反代 + gzip；Python 3.10-slim + OpenCV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89611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96112"/>
            <a:ext cx="2697480" cy="384048"/>
          </a:xfrm>
          <a:prstGeom prst="rect">
            <a:avLst/>
          </a:prstGeom>
          <a:solidFill>
            <a:srgbClr val="1E3A7F"/>
          </a:solidFill>
          <a:ln w="12700">
            <a:solidFill>
              <a:srgbClr val="1E3A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96112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API 限流与加固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46120" y="1353312"/>
            <a:ext cx="251460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4F7C"/>
                </a:solidFill>
              </a:rPr>
              <a:t>slowapi 限流：推理端点 30/min、反馈 10/min；CORS 白名单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89611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96112"/>
            <a:ext cx="2697480" cy="384048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896112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自动化测试 34 用例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26480" y="1353312"/>
            <a:ext cx="251460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4F7C"/>
                </a:solidFill>
              </a:rPr>
              <a:t>pytest 12 用例（健康检查 / OpenAPI / 推理参数 / 反馈）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4F7C"/>
                </a:solidFill>
              </a:rPr>
              <a:t>vitest 22 用例（混淆矩阵工具函数 / API 封装）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7063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70632"/>
            <a:ext cx="269748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70632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前端构建优化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3227832"/>
            <a:ext cx="251460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4F7C"/>
                </a:solidFill>
              </a:rPr>
              <a:t>manualChunks 手动分包：主业务 chunk 从 3MB → 165KB（缩小 95%）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77063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770632"/>
            <a:ext cx="2697480" cy="384048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770632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PDF 报告导出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46120" y="3227832"/>
            <a:ext cx="251460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4F7C"/>
                </a:solidFill>
              </a:rPr>
              <a:t>html2canvas-pro + jsPDF 多页切片，客户端直接下载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总结与展望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基于深度学习的智能宠物视觉信息系统  ·  实验报告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4160520" cy="411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主要成果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393192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分类主模型 Accuracy = 0.9865（ResNet-34 PT）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分割主模型 Dice = 0.9374（U-Net PT）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完整三模型对比，量化迁移学习收益 +30.3%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端到端 Web 系统：14 API + 5 页面 + 三模式推理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Grad-CAM 可解释性分析验证判别依据合理性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工程化落地：Docker + 34 测试 + 前端性能优化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6868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改进方向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344168"/>
            <a:ext cx="397764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模型：升级至 ResNet-50 / ConvNeXt / ViT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数据：主动收集亲缘品种的多视角样本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训练：加入 MixUp / Mosaic / CutMix 高级增强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系统：引入 ONNX Runtime + GPU 推理集群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可解释性：扩展到 Grad-CAM++ / Integrated Gradients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D4F7C"/>
                </a:solidFill>
              </a:rPr>
              <a:t>部署：在线学习闭环（用户反馈数据自动再训练）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感谢聆听！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A623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3017520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</a:rPr>
              <a:t>项目：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3017520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基于深度学习的智能宠物视觉信息系统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3401568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</a:rPr>
              <a:t>汇报人：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3401568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陈登科（2023117319）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3785616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</a:rPr>
              <a:t>学院：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3785616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西北大学</a:t>
            </a:r>
            <a:r>
              <a:rPr lang="zh-CN" altLang="en-US" sz="1200" dirty="0">
                <a:solidFill>
                  <a:srgbClr val="FFFFFF"/>
                </a:solidFill>
              </a:rPr>
              <a:t>软件</a:t>
            </a:r>
            <a:r>
              <a:rPr lang="en-US" sz="1200" dirty="0">
                <a:solidFill>
                  <a:srgbClr val="FFFFFF"/>
                </a:solidFill>
              </a:rPr>
              <a:t>学院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4169664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</a:rPr>
              <a:t>专业：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4169664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软件工程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5147</Words>
  <Application>WPS 演示</Application>
  <PresentationFormat>On-screen Show (16:9)</PresentationFormat>
  <Paragraphs>686</Paragraphs>
  <Slides>25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等线</vt:lpstr>
      <vt:lpstr>Cambria Math</vt:lpstr>
      <vt:lpstr>MS PGothic</vt:lpstr>
      <vt:lpstr>Office Theme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基于深度学习的智能宠物视觉信息系统</dc:title>
  <dc:creator>陈登科</dc:creator>
  <dc:subject>PptxGenJS Presentation</dc:subject>
  <cp:lastModifiedBy>。</cp:lastModifiedBy>
  <cp:revision>2</cp:revision>
  <dcterms:created xsi:type="dcterms:W3CDTF">2026-05-01T11:07:00Z</dcterms:created>
  <dcterms:modified xsi:type="dcterms:W3CDTF">2026-05-01T12:34:44Z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B9DBB58E31A44032B18A9DEDE7271367_12</vt:lpwstr>
  </property>
</Properties>
</file>